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377440"/>
            <a:ext cx="54864" cy="2011680"/>
          </a:xfrm>
          <a:prstGeom prst="rect">
            <a:avLst/>
          </a:prstGeom>
          <a:solidFill>
            <a:srgbClr val="00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54734"/>
                </a:solidFill>
                <a:latin typeface="Georgia"/>
              </a:rPr>
              <a:t>Abstraction vs. Memorization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54734"/>
                </a:solidFill>
                <a:latin typeface="Georgia"/>
              </a:rPr>
              <a:t>LLM Binomial Ordering Preferences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6652"/>
                </a:solidFill>
                <a:latin typeface="Calibri"/>
              </a:rPr>
              <a:t>Zachary Houghton  ·  University of Oregon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Binomials have stable, constrained ordering preferences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"bread and butter", not "butter and bread" — fixed ordering across speakers and time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Constrained by phonology (stress, syllable count), frequency, semantics, pragmatics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Corpus: ~49K binomial pairs with ordering preferences derived from co-occurrence counts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A6652"/>
                </a:solidFill>
                <a:latin typeface="Calibri"/>
              </a:rPr>
              <a:t>◦  y_true = normalized log-odds of the attested ordering (continuous; |r| &lt; 0.04 with log-freq)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A6652"/>
                </a:solidFill>
                <a:latin typeface="Calibri"/>
              </a:rPr>
              <a:t>◦  Pairs drawn from a broad web-text corpus; frequencies validated against the Pile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Research question: do LLMs encode these preferences abstractly, or just memorize attested orderings?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Houghton (2025): evidence for memorization over abstraction. We revisit with a finer-grained probe.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METHODOLOGY · CORPUS &amp; PROBE TRAINING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The binomial corpus: ~49K attested pairs + 340,042 novel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029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~49K attested pairs (corpus co-occurrence &gt; 0) + 340,042 novel pairs from Wikipedia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"Attested" = pair appears with measurable ordering preference in a broad web-text corpus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"Novel" (Wikipedia) = not attested in the training corpus; zero observable preference signal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"Novel to the probe during CV" ≠ novel Wikipedia pairs — see CV design slide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y_true: continuous preference score from asymmetric corpus co-occurrence counts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Positive = word₂ preferred first; negative = word₁ preferred first; near zero = no strong preference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Independent of log(freq): |r| &lt; 0.04 across all 16 models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Probe trained to predict y_true from LLM representations of all ~49K attested pairs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10-fold CV: ~4.9K pairs held out per fold; pair-held-out and word-held-out are separate schemes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6583680" cy="275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METHODOLOGY · PROBE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MLP probe with one hidden layer on final-layer LLM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8580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Input construction: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Template: "the [word1] and the [word2]" passed through the frozen LLM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Final-layer hidden states mean-pooled over all tokens → one vector per binomial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Also tested: words-only pooling (only the two content words) and individual tokens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Probe architecture: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One hidden layer (128 units), ReLU activation, linear output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Trained with MSE loss on y_true; early stopping on held-out fold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10-fold cross-validation; mean R² reported across folds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Three attention conditions (probe trained separately for each):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Full-context: unmodified LLM forward pass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Attention-zeroed: cross-word attention scores set to −∞ before softmax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Control: scrambled y_true labels (sanity check)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297680" cy="4745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METHODOLOGY · CROSS-VALIDATION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Two CV splits test abstract generalization vs. lexical memorization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463040"/>
            <a:ext cx="9326880" cy="25729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069080"/>
            <a:ext cx="5394960" cy="2514600"/>
          </a:xfrm>
          <a:prstGeom prst="rect">
            <a:avLst/>
          </a:prstGeom>
          <a:solidFill>
            <a:srgbClr val="EC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4069080"/>
            <a:ext cx="5760720" cy="25146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78808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PAIR-HELD-OUT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54734"/>
                </a:solidFill>
                <a:latin typeface="Calibri"/>
              </a:rPr>
              <a:t>Specific pairs withheld; both words appear in other training pairs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4A665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A6652"/>
                </a:solidFill>
                <a:latin typeface="Calibri"/>
              </a:rPr>
              <a:t>Probe can exploit word-specific tendencies (e.g., "salt" tends first regardless of partner)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4A665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030"/>
                </a:solidFill>
                <a:latin typeface="Calibri"/>
              </a:rPr>
              <a:t>R² &gt; 0  →  probe generalizes beyond training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178808"/>
            <a:ext cx="5440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A000"/>
                </a:solidFill>
                <a:latin typeface="Calibri"/>
              </a:rPr>
              <a:t>WORD-HELD-OUT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54734"/>
                </a:solidFill>
                <a:latin typeface="Calibri"/>
              </a:rPr>
              <a:t>Both words in test pairs absent from all probe training pairs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4A665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A6652"/>
                </a:solidFill>
                <a:latin typeface="Calibri"/>
              </a:rPr>
              <a:t>No lexical shortcut; probe must use abstract ordering principles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4A665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A000"/>
                </a:solidFill>
                <a:latin typeface="Calibri"/>
              </a:rPr>
              <a:t>R² &gt; 0  →  genuinely abstract preferences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4A665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4734"/>
                </a:solidFill>
                <a:latin typeface="Calibri"/>
              </a:rPr>
              <a:t>Gap (pair &gt; word R²)  →  lexical component of the representation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METHODOLOGY · KEY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Three measures across every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02920" cy="12344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030"/>
                </a:solidFill>
                <a:latin typeface="Georgia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9047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54734"/>
                </a:solidFill>
                <a:latin typeface="Calibri"/>
              </a:rPr>
              <a:t>Pair vs. word R² gap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A6652"/>
                </a:solidFill>
                <a:latin typeface="Calibri"/>
              </a:rPr>
              <a:t>How much of the encoding is lexical vs. abstract?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80360"/>
            <a:ext cx="502920" cy="12344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030"/>
                </a:solidFill>
                <a:latin typeface="Georgia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5351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54734"/>
                </a:solidFill>
                <a:latin typeface="Calibri"/>
              </a:rPr>
              <a:t>Frequency-residual curvature (β₂)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A6652"/>
                </a:solidFill>
                <a:latin typeface="Calibri"/>
              </a:rPr>
              <a:t>β₂ &gt; 0 = U-shape: high-frequency pairs are harder (pair-specific memorization).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502920" cy="12344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030"/>
                </a:solidFill>
                <a:latin typeface="Georgia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1655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54734"/>
                </a:solidFill>
                <a:latin typeface="Calibri"/>
              </a:rPr>
              <a:t>Full-context vs. attention-zeroed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A6652"/>
                </a:solidFill>
                <a:latin typeface="Calibri"/>
              </a:rPr>
              <a:t>What is cross-word attention computing: general relational features or pair-specific statistics?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86400" cy="17163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0"/>
            <a:ext cx="731520" cy="36576"/>
          </a:xfrm>
          <a:prstGeom prst="rect">
            <a:avLst/>
          </a:prstGeom>
          <a:solidFill>
            <a:srgbClr val="00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030"/>
                </a:solidFill>
                <a:latin typeface="Calibri"/>
              </a:rPr>
              <a:t>EXPERIMENT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54734"/>
                </a:solidFill>
                <a:latin typeface="Georgia"/>
              </a:rPr>
              <a:t>BabyLM: Small-Scale,
Data-Limited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6652"/>
                </a:solidFill>
                <a:latin typeface="Calibri"/>
              </a:rPr>
              <a:t>3 models (125M, 350M, 1.3B params) · 100M-word training corpus × 20 epochs
Corpus type: child-directed speech, BNC, books, subtitles, Wikipedia
Over 70% of corpus binomials appear exactly once in BabyLM pretraining data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2965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EXPERIMENT 1 · RESULT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Probe generalizes, but a consistent lexical component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3035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Pair-held-out R²: 0.24–0.34 across all three models (all significantly &gt; 0)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Word-held-out R²: 0.12–0.23 — positive, but consistently lower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BabyLMs do learn abstract ordering preferences — contradicting Houghton (2025)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The gap reflects a lexical component: word-specific ordering tendencies account for part of probe accuracy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E.g., "salt" may tend to appear first across many partners; probe exploits this in pair-held-out but not word-held-out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217920" cy="42729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EXPERIMENT 1 · RESULT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A U-shaped frequency residual: memorization concentrates at high frequencies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3035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β₂ &gt; 0 for all three BabyLM models (CIs exclude 0 for 125M and 350M)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Middle-frequency pairs are easiest to decode; error rises at both extremes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Low frequency: noisy representations — too few exposures to form stable encodings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High frequency: representations become context-sensitive to the specific pair; they no longer reflect generalizable principles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β₂ is attenuated under attention-zeroed → cross-word attention drives the high-frequency penalty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217920" cy="40740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EXPERIMENT 1 · RESULT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Cross-word attention is net abstractive for BabyLM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3035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Full-context R² &gt; attention-zeroed R² for word-held-out, all three models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Blocking cross-word attention reduces probe accuracy: attention is helping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We call this a context-integration mechanism — not an "abstraction mechanism"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Same mechanism will produce memorization when training exposure is sufficient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In BabyLM: most pairs appear 1–2× in pretraining — attention cannot learn pair-specific statistics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Instead, cross-word attention computes general relational features between words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Most pairs fall below the threshold where memorization dominates; net effect is abstractive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035040" cy="4172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0"/>
            <a:ext cx="731520" cy="36576"/>
          </a:xfrm>
          <a:prstGeom prst="rect">
            <a:avLst/>
          </a:prstGeom>
          <a:solidFill>
            <a:srgbClr val="00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030"/>
                </a:solidFill>
                <a:latin typeface="Calibri"/>
              </a:rPr>
              <a:t>EXPERIMENT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54734"/>
                </a:solidFill>
                <a:latin typeface="Georgia"/>
              </a:rPr>
              <a:t>Cross-Family Final-Layer
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6652"/>
                </a:solidFill>
                <a:latin typeface="Calibri"/>
              </a:rPr>
              <a:t>16 models across 5 families: BabyLM, GPT-2, Pythia, OLMo, Llama
117M–8B parameters · BabyLM (~150M tokens) to ~15T tokens (Llama 3)
Pile-trained models: GPT-2 (WebText), Pythia (the Pile), OLMo (Dolma), Llama 3 (various)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3047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EXPERIMENT 2 · RESULT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Scale improves abstraction; the lexical component persists at every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2062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Pile-trained models: substantially higher word-held-out R² than BabyLM of comparable size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Scale improves abstract preference representations, not only memorization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Pair vs. word gap persists across all Pile-trained families: lexical component doesn't disappear with scale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Within families: word-held-out R² non-monotonic with parameter count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Corpus composition and diversity (not parameter count) drives abstract preference quality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80160"/>
            <a:ext cx="7315200" cy="3399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EXPERIMENT 2 · RESULTS ②–③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Universal U-shape and the critical attention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7548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β₂ &gt; 0 for all 16 models — the U-shaped frequency residual replicates across families and scales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BabyLM shows larger β₂: more extreme frequency distribution (70% singletons) sharpens the low-freq/high-freq contrast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β₂ attenuation under attention-zeroed: consistent across all 5 families (same mechanism, universal)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Critical flip in attention condition: all Pile-trained families show attention-zeroed &gt; full-context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Blocking cross-word attention now IMPROVES generalizability — the opposite of Experiment 1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Attention has crossed the threshold: from computing general relational features to encoding pair-specific statistics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Same context-integration mechanism — different outcome because pretraining exposure per pair is far greater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858000" cy="31192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0"/>
            <a:ext cx="731520" cy="36576"/>
          </a:xfrm>
          <a:prstGeom prst="rect">
            <a:avLst/>
          </a:prstGeom>
          <a:solidFill>
            <a:srgbClr val="00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030"/>
                </a:solidFill>
                <a:latin typeface="Calibri"/>
              </a:rPr>
              <a:t>EXPERIMENT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54734"/>
                </a:solidFill>
                <a:latin typeface="Georgia"/>
              </a:rPr>
              <a:t>Developmental Trajectories
Across Training 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6652"/>
                </a:solidFill>
                <a:latin typeface="Calibri"/>
              </a:rPr>
              <a:t>BabyLM (125M, 350M, 1.3B) and Pythia (160M, 410M, 1B) at multiple checkpoints
BabyLM: ~20M–1.9B effective training tokens | Pythia: ~34M–2.1B tokens
Pythia window = first 0.7% of its full 300B-token training run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203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EXPERIMENT 3 · RESULTS ①②③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The developmental arc: memorization → abstraction → memorization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7132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R² gap (①): BabyLM starts with large gap that narrows over training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Lexical component weakens faster than the generalizable component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β₂ trajectory (②): BabyLM starts negative (normal freq benefit), turns positive at ~750M tokens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Pythia β₂ is positive from its first checkpoint — Pile gives far greater absolute token exposure per pair from the outset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Attention condition (③): both families begin with attention-zeroed &gt; full-context (Phase 1: early memorization)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Both flip to full-context &gt; attention-zeroed as training continues (Phase 2: abstraction)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Pythia's Phase 2→3 transition (abstraction → memorization) is not in this checkpoint window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But Experiment 2 establishes it must have occurred: fully-trained Pythia shows the flip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Cross-word attention oscillates between memorization and abstraction across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37360"/>
            <a:ext cx="3566160" cy="393192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7030"/>
                </a:solidFill>
                <a:latin typeface="Georgia"/>
              </a:rPr>
              <a:t>Phase 1
Early memorization
(or noise)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54734"/>
                </a:solidFill>
                <a:latin typeface="Calibri"/>
              </a:rPr>
              <a:t>Attention-zeroed &gt; full-context
Cross-word attention hurts generalization;
consistent with nascent pair-specific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A6652"/>
                </a:solidFill>
                <a:latin typeface="Calibri"/>
              </a:rPr>
              <a:t>Early training · both BabyLM and Pythia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399" y="1737360"/>
            <a:ext cx="3566160" cy="3931920"/>
          </a:xfrm>
          <a:prstGeom prst="rect">
            <a:avLst/>
          </a:prstGeom>
          <a:solidFill>
            <a:srgbClr val="D8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7030"/>
                </a:solidFill>
                <a:latin typeface="Georgia"/>
              </a:rPr>
              <a:t>Phase 2
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146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54734"/>
                </a:solidFill>
                <a:latin typeface="Calibri"/>
              </a:rPr>
              <a:t>Full-context &gt; attention-zeroed
Attention computes general
relational features between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A6652"/>
                </a:solidFill>
                <a:latin typeface="Calibri"/>
              </a:rPr>
              <a:t>BabyLM (end of training)
Pythia (within checkpoint window)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38" y="1737360"/>
            <a:ext cx="3566160" cy="3931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8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A000"/>
                </a:solidFill>
                <a:latin typeface="Georgia"/>
              </a:rPr>
              <a:t>Phase 3
Memorization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8" y="25146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54734"/>
                </a:solidFill>
                <a:latin typeface="Calibri"/>
              </a:rPr>
              <a:t>Attention-zeroed &gt; full-context again
Attention encodes pair-specific
co-occurrence 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A6652"/>
                </a:solidFill>
                <a:latin typeface="Calibri"/>
              </a:rPr>
              <a:t>Fully-trained Pile models (Exp 2)
[not in Exp 3 checkpoint window]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7030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7030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6072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Phase 1→2: cross-word attention accumulates enough data to shift from pair-specific encoding to generalizable relational features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Phase 2→3: with sufficient pair-specific exposure, pair-specific encoding dominates again — memorization reasserts itself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BabyLM stops at Phase 2; Pile-trained models reach Phase 3 — same mechanism, more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Abstraction and memorization coexist; attention determines their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7772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LLMs do learn abstract binomial ordering preferences — word-held-out R² &gt; 0 across all 16 models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A6652"/>
                </a:solidFill>
                <a:latin typeface="Calibri"/>
              </a:rPr>
              <a:t>◦  This holds across conditions, families, and scales — counter to Houghton (2025)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A lexical component persists at every scale: word-specific ordering tendencies contribute to probe accuracy regardless of training data size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Cross-word attention mediates the abstraction-memorization tradeoff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A6652"/>
                </a:solidFill>
                <a:latin typeface="Calibri"/>
              </a:rPr>
              <a:t>◦  It is a context-integration mechanism, not an abstraction or memorization mechanism per se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A6652"/>
                </a:solidFill>
                <a:latin typeface="Calibri"/>
              </a:rPr>
              <a:t>◦  Its outcome depends on training exposure to pair-specific co-occurrence statistics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54734"/>
                </a:solidFill>
                <a:latin typeface="Calibri"/>
              </a:rPr>
              <a:t>▸  The developmental arc (memorization → abstraction → memorization) is traceable within the first 0.7% of Pythia's training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A6652"/>
                </a:solidFill>
                <a:latin typeface="Calibri"/>
              </a:rPr>
              <a:t>◦  The transition from Phase 2 to Phase 3 is driven by cumulative exposure per pair, not model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92040"/>
            <a:ext cx="10671048" cy="1828800"/>
          </a:xfrm>
          <a:prstGeom prst="rect">
            <a:avLst/>
          </a:prstGeom>
          <a:solidFill>
            <a:srgbClr val="D8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956048"/>
            <a:ext cx="103052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030"/>
                </a:solidFill>
                <a:latin typeface="Calibri"/>
              </a:rPr>
              <a:t>The bigger picture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1" i="0">
                <a:solidFill>
                  <a:srgbClr val="154734"/>
                </a:solidFill>
                <a:latin typeface="Calibri"/>
              </a:rPr>
              <a:t>Binomial ordering is jointly determined by abstract principles and pair-specific memorization.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A6652"/>
                </a:solidFill>
                <a:latin typeface="Calibri"/>
              </a:rPr>
              <a:t>Word-held-out R² &gt; 0 across all 16 models confirms genuine generalization to novel word combinations; the U-shaped frequency residual (β₂ &gt; 0) and the attention flip in large-data models show that high-frequency pairs develop pair-specific representations that resist abstract decoding.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000" b="1" i="0">
                <a:solidFill>
                  <a:srgbClr val="154734"/>
                </a:solidFill>
                <a:latin typeface="Calibri"/>
              </a:rPr>
              <a:t>Memorization and abstraction co-occur throughout training — they are not staged.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A6652"/>
                </a:solidFill>
                <a:latin typeface="Calibri"/>
              </a:rPr>
              <a:t>The pair-word R² gap (lexical memorization) and word-held-out R² &gt; 0 (abstraction) are both non-zero from the earliest training checkpoints. Cross-word attention oscillates between pair-specific and generalizable encoding as exposure increases; what changes is not which process operates, but which dominates.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457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00055" y="438912"/>
            <a:ext cx="1554480" cy="27432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BACKUP · PROBE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Observed vs. predicted: probe performance on full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BabyLM-125M · final layer · full-context condition · mean-pooled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R² on full corpus (in-sample) shown as sanity check alongside CV results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Probe captures a real ordering signal despite data-limited pretraining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5943600" cy="20515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457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00055" y="438912"/>
            <a:ext cx="1554480" cy="27432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BACKUP · BABYLM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BabyLM pretraining data vs. Pile-trained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BabyLM training corpus (Warstadt et al. 2023):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AO-CHILDES, BNC spoken, Gutenberg, OpenSubtitles, simple English Wikipedia, switchboard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~100M words, trained for 20 epochs → ~2B effective training tokens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Curated for developmental plausibility — NOT the corpus the binomials were drawn from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Pile-trained models (EleutherAI Pile, Common Crawl, etc.):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GPT-2: 40GB WebText; Pythia: 825GB Pile; OLMo: 3T Dolma tokens; Llama 3: ~15T tokens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These corpora overlap substantially with the source of the binomials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Key consequence: BabyLM models have seen far fewer instances of each binomial pair in pretraining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Explains the different regime: cross-word attention hasn't accumulated pair-specific statistics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457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00055" y="438912"/>
            <a:ext cx="1554480" cy="27432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BACKUP · TECHNICAL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Attention-zeroed: implementation details and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Implementation: attention scores between tokens in word1 span and word2 span set to −∞ before softmax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Effectively zeroes the cross-word attention weights at every head in every layer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Self-attention within each word's span is unaffected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RoPE models (Pythia, OLMo, Llama): attn_zeroed additionally removes relative position encoding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These models receive no positional information about the relative position of the two words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GPT-2 uses absolute positional embeddings added at the input — position is encoded there, not in attention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Worth a methods footnote when cross-family comparisons are made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The attn_zeroed condition does NOT remove all inter-word information: later-layer MLPs may still integrate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Treats attention as a necessary (not sufficient) mechanism for the effects observed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457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00055" y="438912"/>
            <a:ext cx="1554480" cy="27432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BACKUP · REGRESSION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Frequency-residual regression: model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For each condition × model × layer: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Residual_i = |y_true_i − ŷ_i|   (absolute probe error for pair i)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Model: Residual ~ β₀ + β₁ log(freq_i) + β₂ log²(freq_i) + ε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β₂ &gt; 0 = U-shape: high-frequency penalty (pair-specific memorization)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β₂ &lt; 0 = inverted U: high-frequency benefit (no memorization penalty)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Bayesian multilevel regression (brms) for β₂ estimation; 95% CIs = 2.5th–97.5th posterior percentiles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Attenuation of β₂ under attn_zeroed is reported as a directional effect (not a formal interaction test)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54734"/>
                </a:solidFill>
                <a:latin typeface="Calibri"/>
              </a:rPr>
              <a:t>▸  Frequency = total corpus count (freq_w1_w2 + freq_w2_w1), log-transformed</a:t>
            </a:r>
          </a:p>
          <a:p>
            <a:pPr algn="l">
              <a:spcBef>
                <a:spcPts val="100"/>
              </a:spcBef>
            </a:pPr>
            <a:r>
              <a:rPr sz="1100">
                <a:solidFill>
                  <a:srgbClr val="4A6652"/>
                </a:solidFill>
                <a:latin typeface="Calibri"/>
              </a:rPr>
              <a:t>◦  Correlation between |y_true| and log(freq): |r| &lt; 0.04 across all 16 models (no confound)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457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00055" y="438912"/>
            <a:ext cx="1554480" cy="27432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BACKUP · WORD-LEVEL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Words-only mode: trends replicate; absolute values not directly comparable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035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Words-only: probe receives [h(W₁); h(W₂)] — each word extracted from its own sentence context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W₁ hidden state comes from the sentence where W₁ appears first; W₂ from where W₂ appears first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By construction, no cross-word attention influences these representations (autoregressive)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Absolute R² not comparable to mean-pooled: different input dimensionality and information content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Key trends replicate across all 16 models: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Pair-held-out &gt; word-held-out gap preserved (lexical component is a property of word representations)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Same family ordering: Pile-trained &gt;&gt; BabyLM for word-held-out R²</a:t>
            </a:r>
          </a:p>
          <a:p>
            <a:pPr algn="l">
              <a:spcBef>
                <a:spcPts val="100"/>
              </a:spcBef>
            </a:pPr>
            <a:r>
              <a:rPr sz="1050">
                <a:solidFill>
                  <a:srgbClr val="4A6652"/>
                </a:solidFill>
                <a:latin typeface="Calibri"/>
              </a:rPr>
              <a:t>◦  β₂ &gt; 0 for all models (U-shape replicates at word level)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54734"/>
                </a:solidFill>
                <a:latin typeface="Calibri"/>
              </a:rPr>
              <a:t>▸  Attention condition (words-only vs attn-zeroed binomial-level) interpretation differs — see next slide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400800" cy="249028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457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00055" y="438912"/>
            <a:ext cx="1554480" cy="27432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7030"/>
                </a:solidFill>
                <a:latin typeface="Calibri"/>
              </a:rPr>
              <a:t>BACKUP · WORD-LEVEL ATTENTION 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54734"/>
                </a:solidFill>
                <a:latin typeface="Georgia"/>
              </a:rPr>
              <a:t>Attention condition dissociation: words-only vs. mean-pooled differ sharply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035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Recall: words-only extracts each word independently — no cross-word attention by construction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Comparing words-only vs. attn-zeroed binomial-level is NOT the same comparison as full vs. attn-zeroed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Key dissociation for Pile-trained models: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Mean-pooled: attn-zeroed &gt; full-context for word-held-out (the "flip" = memorization)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Words-only: the "full-context" representation already has no cross-word attention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Implication: the memorization signal is encoded at the sequence level, not just the word-token level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For BabyLM: mean-pooled full &gt; attn-zeroed, but words-only shows almost no difference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The abstractive benefit of cross-word attention (Phase 2) operates on the full-sequence representation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A6652"/>
                </a:solidFill>
                <a:latin typeface="Calibri"/>
              </a:rPr>
              <a:t>◦  Individual word-token representations are roughly equally informative regardless of attention condition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54734"/>
                </a:solidFill>
                <a:latin typeface="Calibri"/>
              </a:rPr>
              <a:t>▸  Consistent with the view that cross-word attention in BabyLM enriches the global sequence representation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400800" cy="2316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